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Plus Jakarta Sans"/>
      <ns0:bold ns1:id="rIdFont20"/>
    </ns0:embeddedFont>
    <ns0:embeddedFont>
      <ns0:font typeface="Inter"/>
      <ns0:bold ns1:id="rIdFont21"/>
      <ns0:regular ns1:id="rIdFont22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70269461-8097-4d62-834b-0948d1f132d7.fntdata" /><ns0:Relationship Id="rIdFont21" Type="http://schemas.openxmlformats.org/officeDocument/2006/relationships/font" Target="fonts/5c38c84c-ec01-452c-8583-9dff550394eb.fntdata" /><ns0:Relationship Id="rIdFont22" Type="http://schemas.openxmlformats.org/officeDocument/2006/relationships/font" Target="fonts/bb6ba36d-0caa-4ef2-a101-00d8bcb16e26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4503390"/>
            <a:ext cx="106680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1640234"/>
            <a:ext cx="2200275" cy="295275"/>
          </a:xfrm>
          <a:prstGeom prst="roundRect">
            <a:avLst>
              <a:gd name="adj" fmla="val 50000"/>
            </a:avLst>
          </a:prstGeom>
          <a:solidFill>
            <a:srgbClr val="082C54"/>
          </a:solidFill>
          <a:ln w="952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4550" y="4884390"/>
            <a:ext cx="238125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2164109"/>
            <a:ext cx="9101137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Plus Jakarta Sans"/>
              </a:rPr>
              <a:t>Azure Chaos Studio Resilience Experiment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493740"/>
            <a:ext cx="790575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94A3B8"/>
                </a:solidFill>
                <a:latin typeface="Inter"/>
              </a:rPr>
              <a:t>Validating High Availability and Simulating Zone Failures in Microsoft Azure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97384"/>
            <a:ext cx="199072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EDF6"/>
                </a:solidFill>
                <a:latin typeface="Inter"/>
              </a:rPr>
              <a:t>AZ-104 PROJECT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76575" y="1706909"/>
            <a:ext cx="186928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4A3B8"/>
                </a:solidFill>
                <a:latin typeface="Inter"/>
              </a:rPr>
              <a:t>Team 189 | Project 087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86975" y="4917727"/>
            <a:ext cx="16787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EDF6"/>
                </a:solidFill>
                <a:latin typeface="Inter"/>
              </a:rPr>
              <a:t>Microsoft Azure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817715"/>
            <a:ext cx="431006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DOMAIN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5017740"/>
            <a:ext cx="4310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1F5F9"/>
                </a:solidFill>
                <a:latin typeface="Inter"/>
              </a:rPr>
              <a:t>Cloud Infrastructure &amp; Chaos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4850" y="4817715"/>
            <a:ext cx="307181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COURSE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4850" y="5017740"/>
            <a:ext cx="30718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1F5F9"/>
                </a:solidFill>
                <a:latin typeface="Inter"/>
              </a:rPr>
              <a:t>Azure Administrator (AZ-104)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039350" y="781050"/>
            <a:ext cx="1543050" cy="276225"/>
          </a:xfrm>
          <a:prstGeom prst="roundRect">
            <a:avLst>
              <a:gd name="adj" fmla="val 20689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376362"/>
            <a:ext cx="5295900" cy="154305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109912"/>
            <a:ext cx="5295900" cy="154305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843462"/>
            <a:ext cx="5295900" cy="154305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1376362"/>
            <a:ext cx="38100" cy="154305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3109912"/>
            <a:ext cx="38100" cy="15430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4843462"/>
            <a:ext cx="38100" cy="154305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2071687"/>
            <a:ext cx="5295900" cy="3619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71687"/>
            <a:ext cx="2876550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191750" y="838200"/>
            <a:ext cx="13335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Inter"/>
              </a:rPr>
              <a:t>AZ-104 Framework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57200"/>
            <a:ext cx="70485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78D4"/>
                </a:solidFill>
                <a:latin typeface="Inter"/>
              </a:rPr>
              <a:t>EXECUTIVE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76275"/>
            <a:ext cx="7400925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Project Abstract &amp; Certification Goals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1604962"/>
            <a:ext cx="630078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Practical Problem Solving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1919287"/>
            <a:ext cx="48958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Demonstrates practical solution engineering on Azure to solve real-world availability challenges rather than relying solely on theory.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3338512"/>
            <a:ext cx="630078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Hands-On Exploration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3652837"/>
            <a:ext cx="48958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Integrates key Azure services into a cohesive environment to evaluate performance under fault injection scenarios step-by-step.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300" y="5072062"/>
            <a:ext cx="630078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Iterative Solutioning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300" y="5386387"/>
            <a:ext cx="48958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Identifies technical hurdles during fault execution, researches remediation steps, and applies cloud management best practices.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285875"/>
            <a:ext cx="10972800" cy="1139130"/>
          </a:xfrm>
          <a:prstGeom prst="roundRect">
            <a:avLst>
              <a:gd name="adj" fmla="val 10033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577679"/>
            <a:ext cx="3505200" cy="1975246"/>
          </a:xfrm>
          <a:prstGeom prst="roundRect">
            <a:avLst>
              <a:gd name="adj" fmla="val 57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3577679"/>
            <a:ext cx="3505200" cy="1975246"/>
          </a:xfrm>
          <a:prstGeom prst="roundRect">
            <a:avLst>
              <a:gd name="adj" fmla="val 57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3457723"/>
            <a:ext cx="3505200" cy="2215157"/>
          </a:xfrm>
          <a:prstGeom prst="roundRect">
            <a:avLst>
              <a:gd name="adj" fmla="val 515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853904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853904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733948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650" y="3977729"/>
            <a:ext cx="2095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3450" y="3977729"/>
            <a:ext cx="209550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1537" y="3857773"/>
            <a:ext cx="180975" cy="209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78D4"/>
                </a:solidFill>
                <a:latin typeface="Inter"/>
              </a:rPr>
              <a:t>CORE CHALLENGE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762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Problem Statement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1562100"/>
            <a:ext cx="1051560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1" sz="1650" i="0" u="none">
                <a:solidFill>
                  <a:srgbClr val="0369A1"/>
                </a:solidFill>
                <a:latin typeface="Inter"/>
              </a:rPr>
              <a:t>"Designing high-availability architecture alone does not guarantee resilience during real-world cloud infrastructure outages."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4463504"/>
            <a:ext cx="387548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Controlled Zone Failure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4796879"/>
            <a:ext cx="30480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Injecting faults safely into an active zone using Azure Chaos Studio.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9625" y="4463504"/>
            <a:ext cx="387548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Traffic Failover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9625" y="4796879"/>
            <a:ext cx="30480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Verifying if redundant resources maintain user request handling.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3425" y="4343548"/>
            <a:ext cx="38385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Recovery Speed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3425" y="4676923"/>
            <a:ext cx="304800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Measuring total recovery time and validating health monitoring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62075"/>
            <a:ext cx="5391150" cy="2424112"/>
          </a:xfrm>
          <a:prstGeom prst="roundRect">
            <a:avLst>
              <a:gd name="adj" fmla="val 471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91250" y="1362075"/>
            <a:ext cx="5391150" cy="2424112"/>
          </a:xfrm>
          <a:prstGeom prst="roundRect">
            <a:avLst>
              <a:gd name="adj" fmla="val 471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76687"/>
            <a:ext cx="5391150" cy="2424112"/>
          </a:xfrm>
          <a:prstGeom prst="roundRect">
            <a:avLst>
              <a:gd name="adj" fmla="val 471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3976687"/>
            <a:ext cx="5391150" cy="2424112"/>
          </a:xfrm>
          <a:prstGeom prst="roundRect">
            <a:avLst>
              <a:gd name="adj" fmla="val 471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326481"/>
            <a:ext cx="495300" cy="495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7475" y="2326481"/>
            <a:ext cx="495300" cy="4953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4941093"/>
            <a:ext cx="495300" cy="4953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7475" y="4941093"/>
            <a:ext cx="495300" cy="4953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750" y="2459831"/>
            <a:ext cx="17145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0" y="2459831"/>
            <a:ext cx="28575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4887" y="5074443"/>
            <a:ext cx="257175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00825" y="5074443"/>
            <a:ext cx="228600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78D4"/>
                </a:solidFill>
                <a:latin typeface="Inter"/>
              </a:rPr>
              <a:t>PROJECT GOALS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762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Core Project Objectives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1625" y="2235993"/>
            <a:ext cx="545068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1. Requirements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1625" y="2512218"/>
            <a:ext cx="42481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Understand architectural demands for zone resilience.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3275" y="2235993"/>
            <a:ext cx="503872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2. Azure Service 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3275" y="2512218"/>
            <a:ext cx="42481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Identify optimal cloud resources for resilience testing.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1625" y="4950618"/>
            <a:ext cx="512564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3. Architectural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1625" y="5226843"/>
            <a:ext cx="48815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Design multi-zone fault-tolerant cloud topology.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3275" y="4950618"/>
            <a:ext cx="503872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4. Resource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3275" y="5226843"/>
            <a:ext cx="50387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Gain hands-on provisioning and agent setup skills.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66962"/>
            <a:ext cx="3505200" cy="3028950"/>
          </a:xfrm>
          <a:prstGeom prst="roundRect">
            <a:avLst>
              <a:gd name="adj" fmla="val 377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366962"/>
            <a:ext cx="3505200" cy="3028950"/>
          </a:xfrm>
          <a:prstGeom prst="roundRect">
            <a:avLst>
              <a:gd name="adj" fmla="val 377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366962"/>
            <a:ext cx="3505200" cy="3028950"/>
          </a:xfrm>
          <a:prstGeom prst="roundRect">
            <a:avLst>
              <a:gd name="adj" fmla="val 377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7725" y="3071812"/>
            <a:ext cx="30289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81525" y="3071812"/>
            <a:ext cx="30289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315325" y="3071812"/>
            <a:ext cx="30289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686050"/>
            <a:ext cx="2286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5" y="2686050"/>
            <a:ext cx="28575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5" y="2686050"/>
            <a:ext cx="22860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78D4"/>
                </a:solidFill>
                <a:latin typeface="Inter"/>
              </a:rPr>
              <a:t>SCOPE &amp; APPLICATIONS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762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Target Azure Use Cases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233737"/>
            <a:ext cx="31242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475569"/>
                </a:solidFill>
                <a:latin typeface="Inter"/>
              </a:rPr>
              <a:t>App Hosting: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Deploying cloud workloads across Availability Zones.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900487"/>
            <a:ext cx="31242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475569"/>
                </a:solidFill>
                <a:latin typeface="Inter"/>
              </a:rPr>
              <a:t>VM Management: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Configuring scale sets and virtual machines.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4567237"/>
            <a:ext cx="31242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475569"/>
                </a:solidFill>
                <a:latin typeface="Inter"/>
              </a:rPr>
              <a:t>Cloud Storage: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Redundant storage account configurations.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525" y="3233737"/>
            <a:ext cx="31242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475569"/>
                </a:solidFill>
                <a:latin typeface="Inter"/>
              </a:rPr>
              <a:t>User Management: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Role-based access control (RBAC) setup.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525" y="3900487"/>
            <a:ext cx="31242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475569"/>
                </a:solidFill>
                <a:latin typeface="Inter"/>
              </a:rPr>
              <a:t>Resource Scope: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Restricting chaos experiment execution bounds.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525" y="4567237"/>
            <a:ext cx="31242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475569"/>
                </a:solidFill>
                <a:latin typeface="Inter"/>
              </a:rPr>
              <a:t>Permissions: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Assigning managed identity permissions.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5325" y="3233737"/>
            <a:ext cx="31242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475569"/>
                </a:solidFill>
                <a:latin typeface="Inter"/>
              </a:rPr>
              <a:t>Health Tracking: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Azure Monitor application health metrics.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5325" y="3900487"/>
            <a:ext cx="31242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475569"/>
                </a:solidFill>
                <a:latin typeface="Inter"/>
              </a:rPr>
              <a:t>Backup Services: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Recovery point restoration validation.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5325" y="4567237"/>
            <a:ext cx="31242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475569"/>
                </a:solidFill>
                <a:latin typeface="Inter"/>
              </a:rPr>
              <a:t>Security Rules: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Safe failure testing without side effects.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90625" y="2681287"/>
            <a:ext cx="241280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Compute &amp; Storage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1575" y="2681287"/>
            <a:ext cx="226278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IAM &amp; Governance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58225" y="2681287"/>
            <a:ext cx="263782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Monitoring &amp; Security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257425"/>
            <a:ext cx="5334000" cy="3248025"/>
          </a:xfrm>
          <a:prstGeom prst="roundRect">
            <a:avLst>
              <a:gd name="adj" fmla="val 351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357437"/>
            <a:ext cx="5334000" cy="3048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2609850"/>
            <a:ext cx="457200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825" y="2709862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275" y="2733675"/>
            <a:ext cx="266700" cy="209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4650" y="2833687"/>
            <a:ext cx="209550" cy="2095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025" y="3405187"/>
            <a:ext cx="152400" cy="180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025" y="3857625"/>
            <a:ext cx="152400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025" y="4310062"/>
            <a:ext cx="152400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025" y="4862512"/>
            <a:ext cx="15240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0825" y="3405187"/>
            <a:ext cx="152400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0825" y="3757612"/>
            <a:ext cx="152400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0825" y="4210050"/>
            <a:ext cx="152400" cy="1809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0825" y="4762500"/>
            <a:ext cx="152400" cy="1809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78D4"/>
                </a:solidFill>
                <a:latin typeface="Inter"/>
              </a:rPr>
              <a:t>PREREQUISITES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762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System Requirements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1625" y="2705100"/>
            <a:ext cx="3150393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Software Requirements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8725" y="3295650"/>
            <a:ext cx="44577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Inter"/>
              </a:rPr>
              <a:t>Microsoft Azure Portal:</a:t>
            </a:r>
            <a:r>
              <a:rPr b="1" sz="1350" i="0" u="none">
                <a:solidFill>
                  <a:srgbClr val="0284C7"/>
                </a:solidFill>
                <a:latin typeface="Inter"/>
              </a:rPr>
              <a:t> Cloud management dashboard.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8725" y="3848100"/>
            <a:ext cx="5519737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Inter"/>
              </a:rPr>
              <a:t>Modern Web Browser:</a:t>
            </a:r>
            <a:r>
              <a:rPr b="1" sz="1350" i="0" u="none">
                <a:solidFill>
                  <a:srgbClr val="0284C7"/>
                </a:solidFill>
                <a:latin typeface="Inter"/>
              </a:rPr>
              <a:t> Edge / Chrome / Firefox.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8725" y="4200525"/>
            <a:ext cx="44577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Inter"/>
              </a:rPr>
              <a:t>Azure Account Access:</a:t>
            </a:r>
            <a:r>
              <a:rPr b="1" sz="1350" i="0" u="none">
                <a:solidFill>
                  <a:srgbClr val="0284C7"/>
                </a:solidFill>
                <a:latin typeface="Inter"/>
              </a:rPr>
              <a:t> Active subscription with RBAC rights.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8725" y="4752975"/>
            <a:ext cx="44577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Inter"/>
              </a:rPr>
              <a:t>Internet Connection:</a:t>
            </a:r>
            <a:r>
              <a:rPr b="1" sz="1350" i="0" u="none">
                <a:solidFill>
                  <a:srgbClr val="0284C7"/>
                </a:solidFill>
                <a:latin typeface="Inter"/>
              </a:rPr>
              <a:t> High-speed stable network connection.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10425" y="2805112"/>
            <a:ext cx="321290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Hardware Requirements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67525" y="3395662"/>
            <a:ext cx="5324475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16A34A"/>
                </a:solidFill>
                <a:latin typeface="Inter"/>
              </a:rPr>
              <a:t>Host Workstation:</a:t>
            </a:r>
            <a:r>
              <a:rPr b="1" sz="1350" i="0" u="none">
                <a:solidFill>
                  <a:srgbClr val="16A34A"/>
                </a:solidFill>
                <a:latin typeface="Inter"/>
              </a:rPr>
              <a:t> Laptop or Personal PC.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7525" y="3748087"/>
            <a:ext cx="5324475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16A34A"/>
                </a:solidFill>
                <a:latin typeface="Inter"/>
              </a:rPr>
              <a:t>Memory Capacity:</a:t>
            </a:r>
            <a:r>
              <a:rPr b="1" sz="1350" i="0" u="none">
                <a:solidFill>
                  <a:srgbClr val="16A34A"/>
                </a:solidFill>
                <a:latin typeface="Inter"/>
              </a:rPr>
              <a:t> Minimum 8 GB RAM.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7525" y="4100512"/>
            <a:ext cx="44577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16A34A"/>
                </a:solidFill>
                <a:latin typeface="Inter"/>
              </a:rPr>
              <a:t>Display Resolution:</a:t>
            </a:r>
            <a:r>
              <a:rPr b="1" sz="1350" i="0" u="none">
                <a:solidFill>
                  <a:srgbClr val="16A34A"/>
                </a:solidFill>
                <a:latin typeface="Inter"/>
              </a:rPr>
              <a:t> Standard HD screen for Portal monitoring.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67525" y="4652962"/>
            <a:ext cx="44577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16A34A"/>
                </a:solidFill>
                <a:latin typeface="Inter"/>
              </a:rPr>
              <a:t>Connectivity:</a:t>
            </a:r>
            <a:r>
              <a:rPr b="1" sz="1350" i="0" u="none">
                <a:solidFill>
                  <a:srgbClr val="16A34A"/>
                </a:solidFill>
                <a:latin typeface="Inter"/>
              </a:rPr>
              <a:t> Continuous network bandwidth for remote telemetry.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86500" y="2076450"/>
            <a:ext cx="5295900" cy="1076325"/>
          </a:xfrm>
          <a:prstGeom prst="roundRect">
            <a:avLst>
              <a:gd name="adj" fmla="val 70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86500" y="3343275"/>
            <a:ext cx="5295900" cy="1076325"/>
          </a:xfrm>
          <a:prstGeom prst="roundRect">
            <a:avLst>
              <a:gd name="adj" fmla="val 70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86500" y="4610100"/>
            <a:ext cx="5295900" cy="1076325"/>
          </a:xfrm>
          <a:prstGeom prst="roundRect">
            <a:avLst>
              <a:gd name="adj" fmla="val 70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71687"/>
            <a:ext cx="5295900" cy="3619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071687"/>
            <a:ext cx="3114675" cy="190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78D4"/>
                </a:solidFill>
                <a:latin typeface="Inter"/>
              </a:rPr>
              <a:t>TECHNICAL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762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Azure Chaos Studio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6525" y="2276475"/>
            <a:ext cx="57054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Chaos Target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6525" y="2552700"/>
            <a:ext cx="49911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Isolating target Virtual Machines and scale sets inside an explicit Resource Group boundary.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6525" y="3543300"/>
            <a:ext cx="57054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Fault Capabilities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6525" y="3819525"/>
            <a:ext cx="49911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Executing Compute Zone Shutdown actions to simulate complete Availability Zone failure.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6525" y="4810125"/>
            <a:ext cx="57054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Health Monitoring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6525" y="5086350"/>
            <a:ext cx="49911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Observing traffic rerouting through Load Balancer / Traffic Manager using Azure Monitor.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34865"/>
            <a:ext cx="1701849" cy="2293143"/>
          </a:xfrm>
          <a:prstGeom prst="roundRect">
            <a:avLst>
              <a:gd name="adj" fmla="val 559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463849" y="2974776"/>
            <a:ext cx="1701849" cy="1813321"/>
          </a:xfrm>
          <a:prstGeom prst="roundRect">
            <a:avLst>
              <a:gd name="adj" fmla="val 559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18099" y="2964358"/>
            <a:ext cx="1701849" cy="1834157"/>
          </a:xfrm>
          <a:prstGeom prst="roundRect">
            <a:avLst>
              <a:gd name="adj" fmla="val 559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72348" y="2974776"/>
            <a:ext cx="1701849" cy="1813321"/>
          </a:xfrm>
          <a:prstGeom prst="roundRect">
            <a:avLst>
              <a:gd name="adj" fmla="val 559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26598" y="2964358"/>
            <a:ext cx="1701849" cy="1834157"/>
          </a:xfrm>
          <a:prstGeom prst="roundRect">
            <a:avLst>
              <a:gd name="adj" fmla="val 559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80848" y="2854821"/>
            <a:ext cx="1701849" cy="2053232"/>
          </a:xfrm>
          <a:prstGeom prst="roundRect">
            <a:avLst>
              <a:gd name="adj" fmla="val 559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1525" y="293489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625774" y="3174801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80024" y="3164383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34273" y="3174801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88523" y="3164383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42773" y="3054846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78D4"/>
                </a:solidFill>
                <a:latin typeface="Inter"/>
              </a:rPr>
              <a:t>EXECUTION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762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6-Step Implementation Methodology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650" y="2934890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525" y="3315890"/>
            <a:ext cx="1546912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Study Requirements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525" y="3868340"/>
            <a:ext cx="1473249" cy="959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64748B"/>
                </a:solidFill>
                <a:latin typeface="Inter"/>
              </a:rPr>
              <a:t>Understand expected resilient outcome.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82899" y="3174801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25774" y="3555801"/>
            <a:ext cx="1546912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Analyze &amp; Select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25774" y="4108251"/>
            <a:ext cx="1473249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64748B"/>
                </a:solidFill>
                <a:latin typeface="Inter"/>
              </a:rPr>
              <a:t>Identify required Azure services.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37149" y="3164383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024" y="3545383"/>
            <a:ext cx="180862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Design Solution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024" y="3878758"/>
            <a:ext cx="1473249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64748B"/>
                </a:solidFill>
                <a:latin typeface="Inter"/>
              </a:rPr>
              <a:t>Prepare high-availability blueprint.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1398" y="3174801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4273" y="3555801"/>
            <a:ext cx="1546912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Provision Resources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4273" y="4108251"/>
            <a:ext cx="1473249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64748B"/>
                </a:solidFill>
                <a:latin typeface="Inter"/>
              </a:rPr>
              <a:t>Create targets in Azure Portal.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5648" y="3164383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8523" y="3545383"/>
            <a:ext cx="180862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Test &amp; Observe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8523" y="3878758"/>
            <a:ext cx="1473249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64748B"/>
                </a:solidFill>
                <a:latin typeface="Inter"/>
              </a:rPr>
              <a:t>Run fault experiment &amp; record metrics.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99898" y="3054846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Inter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42773" y="3435846"/>
            <a:ext cx="1546912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Document Findings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42773" y="3988296"/>
            <a:ext cx="1473249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64748B"/>
                </a:solidFill>
                <a:latin typeface="Inter"/>
              </a:rPr>
              <a:t>Report resilience gaps &amp; refine.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62075"/>
            <a:ext cx="5391150" cy="2424112"/>
          </a:xfrm>
          <a:prstGeom prst="roundRect">
            <a:avLst>
              <a:gd name="adj" fmla="val 47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91250" y="1362075"/>
            <a:ext cx="5391150" cy="2424112"/>
          </a:xfrm>
          <a:prstGeom prst="roundRect">
            <a:avLst>
              <a:gd name="adj" fmla="val 47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76687"/>
            <a:ext cx="5391150" cy="2424112"/>
          </a:xfrm>
          <a:prstGeom prst="roundRect">
            <a:avLst>
              <a:gd name="adj" fmla="val 47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3976687"/>
            <a:ext cx="5391150" cy="2424112"/>
          </a:xfrm>
          <a:prstGeom prst="roundRect">
            <a:avLst>
              <a:gd name="adj" fmla="val 47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1624012"/>
            <a:ext cx="19050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75" y="1624012"/>
            <a:ext cx="19050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4238625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75" y="4238625"/>
            <a:ext cx="190500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78D4"/>
                </a:solidFill>
                <a:latin typeface="Inter"/>
              </a:rPr>
              <a:t>RISK &amp; IMPLEMENTATION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762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Identified Project Challenges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1914525"/>
            <a:ext cx="50101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Defining exact resource boundaries to prevent blast radius spillover.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9375" y="1914525"/>
            <a:ext cx="50101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Assigning managed identity roles on target resources securely.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4529137"/>
            <a:ext cx="50101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Configuring Chaos Studio agent extension across Virtual Machines.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9375" y="4529137"/>
            <a:ext cx="50101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Ensuring fault injection tests run safely without affecting unrelated systems.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525" y="1600200"/>
            <a:ext cx="243780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Experiment Scoping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4175" y="1600200"/>
            <a:ext cx="21752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RBAC Permissions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525" y="4214812"/>
            <a:ext cx="246280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Agent Configuration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4175" y="4214812"/>
            <a:ext cx="226278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Safety Constraints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86500" y="2300287"/>
            <a:ext cx="5295900" cy="1019175"/>
          </a:xfrm>
          <a:prstGeom prst="roundRect">
            <a:avLst>
              <a:gd name="adj" fmla="val 934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86500" y="3471862"/>
            <a:ext cx="5295900" cy="819150"/>
          </a:xfrm>
          <a:prstGeom prst="roundRect">
            <a:avLst>
              <a:gd name="adj" fmla="val 1162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86500" y="4443412"/>
            <a:ext cx="5295900" cy="1019175"/>
          </a:xfrm>
          <a:prstGeom prst="roundRect">
            <a:avLst>
              <a:gd name="adj" fmla="val 934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71687"/>
            <a:ext cx="5295900" cy="3619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071687"/>
            <a:ext cx="5295900" cy="3619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625" y="2676525"/>
            <a:ext cx="333375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625" y="3748087"/>
            <a:ext cx="26670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4625" y="4819650"/>
            <a:ext cx="304800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78D4"/>
                </a:solidFill>
                <a:latin typeface="Inter"/>
              </a:rPr>
              <a:t>TARGET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762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Expected Project Outcomes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10400" y="2500312"/>
            <a:ext cx="51816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Cloud Concepts Mastery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0400" y="2719387"/>
            <a:ext cx="44291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Deeper understanding of distributed resilience patterns.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3725" y="3671887"/>
            <a:ext cx="52482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Practical Exposure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3725" y="3890962"/>
            <a:ext cx="52030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Direct experience configuring Azure Chaos Studio.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1825" y="4643437"/>
            <a:ext cx="52101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Resource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1825" y="4862512"/>
            <a:ext cx="44577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Improved capability in managing production cloud assets.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76550"/>
            <a:ext cx="2600325" cy="2009775"/>
          </a:xfrm>
          <a:prstGeom prst="roundRect">
            <a:avLst>
              <a:gd name="adj" fmla="val 568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2876550"/>
            <a:ext cx="2600325" cy="2009775"/>
          </a:xfrm>
          <a:prstGeom prst="roundRect">
            <a:avLst>
              <a:gd name="adj" fmla="val 568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2986087"/>
            <a:ext cx="2600325" cy="1790700"/>
          </a:xfrm>
          <a:prstGeom prst="roundRect">
            <a:avLst>
              <a:gd name="adj" fmla="val 638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2876550"/>
            <a:ext cx="2600325" cy="2009775"/>
          </a:xfrm>
          <a:prstGeom prst="roundRect">
            <a:avLst>
              <a:gd name="adj" fmla="val 568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604962" y="315277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95787" y="315277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86612" y="3262312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F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977437" y="315277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3150" y="857250"/>
            <a:ext cx="1619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1350" i="0" u="none">
                <a:solidFill>
                  <a:srgbClr val="0078D4"/>
                </a:solidFill>
                <a:latin typeface="Inter"/>
              </a:rPr>
              <a:t>Project No. 087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57200"/>
            <a:ext cx="526256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78D4"/>
                </a:solidFill>
                <a:latin typeface="Inter"/>
              </a:rPr>
              <a:t>PROJECT ROSTER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76275"/>
            <a:ext cx="552569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Team 189 Contributor Roster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2087" y="3152775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0284C7"/>
                </a:solidFill>
                <a:latin typeface="Inter"/>
              </a:rPr>
              <a:t>VT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5844" y="3914775"/>
            <a:ext cx="268783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Vattigunta Lakshmi Triveni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840" y="4410075"/>
            <a:ext cx="25598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284C7"/>
                </a:solidFill>
                <a:latin typeface="Inter"/>
              </a:rPr>
              <a:t>2400031813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2912" y="3152775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16A34A"/>
                </a:solidFill>
                <a:latin typeface="Inter"/>
              </a:rPr>
              <a:t>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6669" y="3914775"/>
            <a:ext cx="268783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Gollapalli Hanshika Naaga Devi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0665" y="4410075"/>
            <a:ext cx="25598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6A34A"/>
                </a:solidFill>
                <a:latin typeface="Inter"/>
              </a:rPr>
              <a:t>2400031763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3737" y="3262312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9333EA"/>
                </a:solidFill>
                <a:latin typeface="Inter"/>
              </a:rPr>
              <a:t>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7494" y="4024312"/>
            <a:ext cx="268783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Thatikonda Sai Prasanna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490" y="4300537"/>
            <a:ext cx="25598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9333EA"/>
                </a:solidFill>
                <a:latin typeface="Inter"/>
              </a:rPr>
              <a:t>2400031711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34562" y="3152775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EA580C"/>
                </a:solidFill>
                <a:latin typeface="Inter"/>
              </a:rPr>
              <a:t>VG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38319" y="3914775"/>
            <a:ext cx="268783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Veeramreddy Geetha Pramodha Reddy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2315" y="4410075"/>
            <a:ext cx="25598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EA580C"/>
                </a:solidFill>
                <a:latin typeface="Inter"/>
              </a:rPr>
              <a:t>2400080243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691062" y="2053530"/>
            <a:ext cx="2809875" cy="295275"/>
          </a:xfrm>
          <a:prstGeom prst="roundRect">
            <a:avLst>
              <a:gd name="adj" fmla="val 50000"/>
            </a:avLst>
          </a:prstGeom>
          <a:solidFill>
            <a:srgbClr val="082C54"/>
          </a:solidFill>
          <a:ln w="952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010025" y="4280445"/>
            <a:ext cx="1428750" cy="523875"/>
          </a:xfrm>
          <a:prstGeom prst="roundRect">
            <a:avLst>
              <a:gd name="adj" fmla="val 14545"/>
            </a:avLst>
          </a:prstGeom>
          <a:solidFill>
            <a:srgbClr val="1A2136"/>
          </a:solidFill>
          <a:ln w="9525">
            <a:solidFill>
              <a:srgbClr val="282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591175" y="4280445"/>
            <a:ext cx="2590800" cy="523875"/>
          </a:xfrm>
          <a:prstGeom prst="roundRect">
            <a:avLst>
              <a:gd name="adj" fmla="val 14545"/>
            </a:avLst>
          </a:prstGeom>
          <a:solidFill>
            <a:srgbClr val="1A2136"/>
          </a:solidFill>
          <a:ln w="9525">
            <a:solidFill>
              <a:srgbClr val="282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92228" y="2110680"/>
            <a:ext cx="3207543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8EDF6"/>
                </a:solidFill>
                <a:latin typeface="Inter"/>
              </a:rPr>
              <a:t>CURRENT STATUS &amp;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4214" y="2577405"/>
            <a:ext cx="8563570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959"/>
              </a:lnSpc>
            </a:pPr>
            <a:r>
              <a:rPr b="1" sz="3300" i="0" u="none">
                <a:solidFill>
                  <a:srgbClr val="FFFFFF"/>
                </a:solidFill>
                <a:latin typeface="Plus Jakarta Sans"/>
              </a:rPr>
              <a:t>Initial Stage Focus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1625" y="3270795"/>
            <a:ext cx="904875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94A3B8"/>
                </a:solidFill>
                <a:latin typeface="Inter"/>
              </a:rPr>
              <a:t>Focusing on scope definition and initial design planning through a structured, sequential approach to acquire real-world Azure capabilities.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36231" y="4432845"/>
            <a:ext cx="1176337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38EDF6"/>
                </a:solidFill>
                <a:latin typeface="Inter"/>
              </a:rPr>
              <a:t>Team 189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2125" y="4432845"/>
            <a:ext cx="26289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Inter"/>
              </a:rPr>
              <a:t>Thank You / Questions?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572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2877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2390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2390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71650"/>
            <a:ext cx="857250" cy="476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543175"/>
            <a:ext cx="1714500" cy="381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Plus Jakarta Sans"/>
              </a:rPr>
              <a:t>Image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6875" y="1042987"/>
            <a:ext cx="89296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https://www.microsoft.com/en-us/microsoft-cloud/blog/wp-content/uploads/2024/09/Cloud_366712_Blog_240910.webp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6875" y="1243012"/>
            <a:ext cx="255984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www.microsoft.com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1814512"/>
            <a:ext cx="88344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https://community.f5.com/t5/s/zihoc95639/images/bS0zMjc4NDgtSjgwWmpl?image-dimensions=600x359&amp;revision=16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6875" y="2014537"/>
            <a:ext cx="24288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community.f5.com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875" y="2586037"/>
            <a:ext cx="762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https://docs.cloud.google.com/static/architecture/images/scalable-and-resilient-apps-global-traffic.svg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2786062"/>
            <a:ext cx="289321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docs.cloud.google.com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